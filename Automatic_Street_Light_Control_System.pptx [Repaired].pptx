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3" d="100"/>
          <a:sy n="93" d="100"/>
        </p:scale>
        <p:origin x="79" y="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018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81160" y="137160"/>
            <a:ext cx="2468880" cy="24688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502920"/>
            <a:ext cx="1737360" cy="1737360"/>
          </a:xfrm>
          <a:prstGeom prst="ellipse">
            <a:avLst/>
          </a:prstGeom>
          <a:solidFill>
            <a:srgbClr val="E0A030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12680" y="868680"/>
            <a:ext cx="1005840" cy="1005840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405872" y="1828800"/>
            <a:ext cx="128016" cy="1920240"/>
          </a:xfrm>
          <a:prstGeom prst="rect">
            <a:avLst/>
          </a:prstGeom>
          <a:solidFill>
            <a:srgbClr val="2A3A5C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0" y="3703320"/>
            <a:ext cx="640080" cy="146304"/>
          </a:xfrm>
          <a:prstGeom prst="ellipse">
            <a:avLst/>
          </a:prstGeom>
          <a:solidFill>
            <a:srgbClr val="24304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14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LEARNING  •  DIGITAL LOGIC DESIGN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8138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Simulation of an Automatic Street Light Control System Using Combinational Logic Gates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58368" y="3977640"/>
            <a:ext cx="26517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6052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logic-gate based sensing and switching system that turns street lamps ON at dusk and OFF at dawn — without manual control.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074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5349240"/>
            <a:ext cx="6035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2620040081  Mohith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2620040083  Santhosh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2620040157  Jaideep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2620040178  Anudeepika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2620040179  Srivani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&amp; Communication Engineering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Aim, Objectives &amp; Learning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2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538728" cy="448056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0F1B33"/>
          </a:solidFill>
          <a:ln w="19050">
            <a:solidFill>
              <a:srgbClr val="E0A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2898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289864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design, simplify and simulate a combinational-logic circuit that automatically switches street lamps ON during darkness and OFF during daylight, replacing manual or timer-based control.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1691640"/>
            <a:ext cx="3538728" cy="448056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36008" y="2011680"/>
            <a:ext cx="502920" cy="502920"/>
          </a:xfrm>
          <a:prstGeom prst="ellipse">
            <a:avLst/>
          </a:prstGeom>
          <a:solidFill>
            <a:srgbClr val="0F1B33"/>
          </a:solidFill>
          <a:ln w="19050">
            <a:solidFill>
              <a:srgbClr val="E0A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36008" y="2651760"/>
            <a:ext cx="2898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Instructional Objectives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36008" y="3154680"/>
            <a:ext cx="289864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sensor and control inputs of the system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the truth table for the required behaviour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and simplify the Boolean output expression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 the expression using basic logic gates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83296" y="1691640"/>
            <a:ext cx="3538728" cy="448056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3336" y="2011680"/>
            <a:ext cx="502920" cy="502920"/>
          </a:xfrm>
          <a:prstGeom prst="ellipse">
            <a:avLst/>
          </a:prstGeom>
          <a:solidFill>
            <a:srgbClr val="0F1B33"/>
          </a:solidFill>
          <a:ln w="19050">
            <a:solidFill>
              <a:srgbClr val="E0A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3336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03336" y="2651760"/>
            <a:ext cx="2898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03336" y="3154680"/>
            <a:ext cx="289864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gate-level combinational circuit from a specification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and verify circuit behaviour in Logisim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the choice of gates and an alternate NAND-only design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Automate the Street Light?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2E4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street lights are switched manually or by fixed timers. Both approaches waste energy on cloudy, rainy or early-dark days, and depend on a person remembering to act. A combinational-logic controller reacts directly to ambient light, so the response is instantaneous, consistent and needs no human intervention.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118104"/>
            <a:ext cx="118872" cy="118872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53512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Wastage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28269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Timer-based lamps often stay on well after sunrise, or switch late at dusk.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78224"/>
            <a:ext cx="118872" cy="118872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913632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Dependency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424281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Human-operated switching is inconsistent and unreliable at scale.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038344"/>
            <a:ext cx="118872" cy="118872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73752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Weather Response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520293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schedules ignore overcast days that darken earlier than usual.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52360" y="160020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0F1B3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0A030"/>
                </a:solidFill>
              </a:rPr>
              <a:t>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72400" y="2331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Combinational Logic?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0" y="29718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200" dirty="0">
                <a:solidFill>
                  <a:srgbClr val="D7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depends only on present sensor state — no memory needed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200" dirty="0">
                <a:solidFill>
                  <a:srgbClr val="D7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a handful of standard gate ICs — low cost, easy to test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200" dirty="0">
                <a:solidFill>
                  <a:srgbClr val="D7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instant switching with zero software or firmware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200" dirty="0">
                <a:solidFill>
                  <a:srgbClr val="D7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simulate and verify in Logisim before hardware build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Block Diagram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2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LDR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Senses ambient light intensity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23160" y="224028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030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07208" y="18288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07208" y="196596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98648" y="26060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analog level → digital 0/1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81728" y="224028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030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65776" y="18288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65776" y="196596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Combinational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Unit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57216" y="26060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+ AND gate network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40296" y="224028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03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24344" y="18288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24344" y="196596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15784" y="26060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 / relay stage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98864" y="224028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030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582912" y="182880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82912" y="196596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74352" y="26060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ON/OFF load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flow: light intensity is sensed continuously, digitised, evaluated by the logic unit, and the lamp responds within milliseconds.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3538728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453128"/>
            <a:ext cx="109728" cy="109728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4343400"/>
            <a:ext cx="2807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2960" y="4846320"/>
            <a:ext cx="2990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output — 1 = daylight, 0 = darkness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15968" y="4160520"/>
            <a:ext cx="3538728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90288" y="4453128"/>
            <a:ext cx="109728" cy="109728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31" name="Text 29"/>
          <p:cNvSpPr/>
          <p:nvPr/>
        </p:nvSpPr>
        <p:spPr>
          <a:xfrm>
            <a:off x="4818888" y="4343400"/>
            <a:ext cx="2807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B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90288" y="4846320"/>
            <a:ext cx="2990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enable / override switch — 1 = system active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83296" y="4160520"/>
            <a:ext cx="3538728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57616" y="4453128"/>
            <a:ext cx="109728" cy="109728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35" name="Text 33"/>
          <p:cNvSpPr/>
          <p:nvPr/>
        </p:nvSpPr>
        <p:spPr>
          <a:xfrm>
            <a:off x="8586216" y="4343400"/>
            <a:ext cx="2807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Y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357616" y="4846320"/>
            <a:ext cx="2990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 drive signal — 1 = lamp ON, 0 = lamp OFF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Principle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2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26517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4963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LDR's resistance rises as light falls; a comparator converts this analog change into a clean digital level 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6517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1920240"/>
            <a:ext cx="457200" cy="457200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4963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2880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lamp-ON should occur when it is dark (A = 0), a NOT gate produces A′, which is HIGH only at night.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691640"/>
            <a:ext cx="26517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920240"/>
            <a:ext cx="457200" cy="457200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24963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2880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AND gate combines A′ with the manual enable input B, so the system can be switched off for maintenance.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15400" y="1691640"/>
            <a:ext cx="26517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0" y="1920240"/>
            <a:ext cx="457200" cy="457200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0" y="24963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0" y="2880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AND-gate output Y switches a transistor/relay stage that energises the actual street lamp.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206240"/>
            <a:ext cx="11091672" cy="1737360"/>
          </a:xfrm>
          <a:prstGeom prst="roundRect">
            <a:avLst>
              <a:gd name="adj" fmla="val 3158"/>
            </a:avLst>
          </a:prstGeom>
          <a:solidFill>
            <a:srgbClr val="FDF2E3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→ Night Transition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48006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dusk falls, A drops from 1 to 0. With the system enabled (B = 1), A′ rises to 1 and the AND gate output Y follows it to 1 — the lamp turns ON automatically, with no digital memory or clock required.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Inputs, Output &amp; Truth 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2E4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Definitions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1B3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011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Light-sensor (comparator) output — 1 = daylight, 0 = dark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1B3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enable / override switch — 1 = enabled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1B3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017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 control output — 1 = lamp ON, 0 = lamp OFF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DF2E3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8404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22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A′ · B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minimal, two-gate expression; the same behaviour is realised in hardware using one NOT gate and one AND gate.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600200"/>
          <a:ext cx="4965190" cy="3163824"/>
        </p:xfrm>
        <a:graphic>
          <a:graphicData uri="http://schemas.openxmlformats.org/drawingml/2006/table">
            <a:tbl>
              <a:tblPr/>
              <a:tblGrid>
                <a:gridCol w="993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0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= A′·B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Day, enabled → 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Day, disabled → 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Night, enabled → 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Night, disabled → 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Deriving the Switching Expression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2E4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Sum-of-Products from the Truth Table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is 1 for exactly one input row (A = 0, B = 1). Reading that row directly gives the sum-of-products form, which is already in its simplest shape — a single product term, so no Boolean-law reduction or K-map grouping is needed.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DF2E3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7180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22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Ā · B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NOT(A) · B  (gate-level reading)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2834640"/>
            <a:ext cx="546811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9443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Universal-Gate Equivalent (NAND-only)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3246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[(A↑A)↑B] ↑ [(A↑A)↑B]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3611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↑ denotes the NAND operation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2-Variable Map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5720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cell is 1 — there is nothing left to group, confirming Y = A′B is minimal.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251960"/>
          <a:ext cx="3108960" cy="1645920"/>
        </p:xfrm>
        <a:graphic>
          <a:graphicData uri="http://schemas.openxmlformats.org/drawingml/2006/table">
            <a:tbl>
              <a:tblPr/>
              <a:tblGrid>
                <a:gridCol w="103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B=0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B=1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A=0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A=1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REALISATION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Gate-Level Schematic (Logisim Layout)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2E4E9"/>
            </a:solidFill>
            <a:prstDash val="solid"/>
          </a:ln>
        </p:spPr>
      </p:sp>
      <p:pic>
        <p:nvPicPr>
          <p:cNvPr id="5" name="Image 0" descr="/mnt/user-data/uploads/178910181569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606" y="1600200"/>
            <a:ext cx="7063740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Universal-Gate Realisation — NAND Only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2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640080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65960"/>
            <a:ext cx="2377440" cy="32004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 – NAND_ONLY.CIRC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389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43000" y="2880360"/>
            <a:ext cx="502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880360"/>
            <a:ext cx="0" cy="8915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371600" y="3762758"/>
            <a:ext cx="1783080" cy="914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2514600"/>
            <a:ext cx="822960" cy="640080"/>
          </a:xfrm>
          <a:prstGeom prst="roundRect">
            <a:avLst>
              <a:gd name="adj" fmla="val 14286"/>
            </a:avLst>
          </a:prstGeom>
          <a:solidFill>
            <a:srgbClr val="E5E7E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25146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(NOT)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1460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A′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2834640"/>
            <a:ext cx="6400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0" y="2834640"/>
            <a:ext cx="0" cy="7543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3589020"/>
            <a:ext cx="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234440" y="4571998"/>
            <a:ext cx="1893277" cy="1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4572000"/>
            <a:ext cx="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3387852"/>
            <a:ext cx="960120" cy="768096"/>
          </a:xfrm>
          <a:prstGeom prst="roundRect">
            <a:avLst>
              <a:gd name="adj" fmla="val 11905"/>
            </a:avLst>
          </a:prstGeom>
          <a:solidFill>
            <a:srgbClr val="DCEBFB"/>
          </a:solidFill>
          <a:ln w="15875">
            <a:solidFill>
              <a:srgbClr val="3B6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387852"/>
            <a:ext cx="960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NAND(A′,B)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60520" y="3771900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3451860"/>
            <a:ext cx="777240" cy="640080"/>
          </a:xfrm>
          <a:prstGeom prst="roundRect">
            <a:avLst>
              <a:gd name="adj" fmla="val 14286"/>
            </a:avLst>
          </a:prstGeom>
          <a:solidFill>
            <a:srgbClr val="E5E7EB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345186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(NOT)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94960" y="3771900"/>
            <a:ext cx="365760" cy="0"/>
          </a:xfrm>
          <a:prstGeom prst="line">
            <a:avLst/>
          </a:prstGeom>
          <a:noFill/>
          <a:ln w="19050">
            <a:solidFill>
              <a:srgbClr val="3F91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0" y="3625596"/>
            <a:ext cx="292608" cy="292608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0" y="33147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48463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and G3 are NAND gates with tied inputs — each behaves as a plain inverter (NOT). G2 performs the AND once its output is re-inverted by G3.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2376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Build It This Way?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23760" y="219456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▸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 is a universal gate — any Boolean function, including our AND–NOT circuit, can be built from NAND gates alone.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▸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stock NAND ICs (e.g. 7400) in bulk, often making a NAND-only board cheaper and easier to source.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▸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one gate family simplifies PCB layout, testing, and spares inventory for the project.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223760" y="4480560"/>
            <a:ext cx="4416552" cy="1005840"/>
          </a:xfrm>
          <a:prstGeom prst="roundRect">
            <a:avLst>
              <a:gd name="adj" fmla="val 5455"/>
            </a:avLst>
          </a:prstGeom>
          <a:solidFill>
            <a:srgbClr val="F7F7F8"/>
          </a:solidFill>
          <a:ln w="12700">
            <a:solidFill>
              <a:srgbClr val="E2E4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44805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[(A↑A)↑B] ↑ [(A↑A)↑B]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5" name="Shape 17"/>
          <p:cNvSpPr/>
          <p:nvPr/>
        </p:nvSpPr>
        <p:spPr>
          <a:xfrm flipH="1" flipV="1">
            <a:off x="3118337" y="3909059"/>
            <a:ext cx="9378" cy="662939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6" name="Shape 17"/>
          <p:cNvSpPr/>
          <p:nvPr/>
        </p:nvSpPr>
        <p:spPr>
          <a:xfrm flipV="1">
            <a:off x="3105732" y="3909059"/>
            <a:ext cx="43965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7" name="Shape 17"/>
          <p:cNvSpPr/>
          <p:nvPr/>
        </p:nvSpPr>
        <p:spPr>
          <a:xfrm>
            <a:off x="3105732" y="3579877"/>
            <a:ext cx="4396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Required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2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46504"/>
            <a:ext cx="384048" cy="384048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46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691640"/>
            <a:ext cx="4956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011680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Light-dependent resistor — senses ambient brightness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542032"/>
            <a:ext cx="4956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LM358 / LM339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862072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IC — converts LDR voltage to a clean digital level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47288"/>
            <a:ext cx="384048" cy="384048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47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392424"/>
            <a:ext cx="4956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7404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712464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NOT (inverter) gate package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242816"/>
            <a:ext cx="4956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7408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4562856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 2-input AND gate package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148072"/>
            <a:ext cx="384048" cy="384048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5093208"/>
            <a:ext cx="4956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7400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5413248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 2-input NAND gate — used in the universal-gate design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90488" y="1746504"/>
            <a:ext cx="384048" cy="384048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26" name="Text 24"/>
          <p:cNvSpPr/>
          <p:nvPr/>
        </p:nvSpPr>
        <p:spPr>
          <a:xfrm>
            <a:off x="6190488" y="1746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93408" y="1691640"/>
            <a:ext cx="4956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BC547 Transistor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93408" y="2011680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device that drives the relay from the logic output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90488" y="2596896"/>
            <a:ext cx="384048" cy="384048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30" name="Text 28"/>
          <p:cNvSpPr/>
          <p:nvPr/>
        </p:nvSpPr>
        <p:spPr>
          <a:xfrm>
            <a:off x="6190488" y="2596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93408" y="2542032"/>
            <a:ext cx="4956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Relay Module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93408" y="2862072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and switches the mains-connected lamp load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90488" y="3447288"/>
            <a:ext cx="384048" cy="384048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34" name="Text 32"/>
          <p:cNvSpPr/>
          <p:nvPr/>
        </p:nvSpPr>
        <p:spPr>
          <a:xfrm>
            <a:off x="6190488" y="3447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93408" y="3392424"/>
            <a:ext cx="4956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/ Lamp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93408" y="3712464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representing the street light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90488" y="4297680"/>
            <a:ext cx="384048" cy="384048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38" name="Text 36"/>
          <p:cNvSpPr/>
          <p:nvPr/>
        </p:nvSpPr>
        <p:spPr>
          <a:xfrm>
            <a:off x="6190488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93408" y="4242816"/>
            <a:ext cx="4956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Resistors &amp; Preset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93408" y="4562856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the LDR divider and set the comparator threshold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90488" y="5148072"/>
            <a:ext cx="384048" cy="384048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42" name="Text 40"/>
          <p:cNvSpPr/>
          <p:nvPr/>
        </p:nvSpPr>
        <p:spPr>
          <a:xfrm>
            <a:off x="6190488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93408" y="5093208"/>
            <a:ext cx="4956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5V Supply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693408" y="5413248"/>
            <a:ext cx="4956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sensor, comparator and logic ICs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the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2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53872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411480" cy="411480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A030"/>
                </a:solidFill>
              </a:rPr>
              <a:t>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Efficient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90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Lamps burn only during actual darkness, cutting wasted daytime and early-dusk power draw.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5968" y="1691640"/>
            <a:ext cx="353872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0288" y="1965960"/>
            <a:ext cx="411480" cy="411480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A030"/>
                </a:solidFill>
              </a:rPr>
              <a:t>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246888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Automatic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0288" y="2834640"/>
            <a:ext cx="2990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operator, scheduling, or app is needed — the circuit self-triggers on light level.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83296" y="1691640"/>
            <a:ext cx="353872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7616" y="1965960"/>
            <a:ext cx="411480" cy="411480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A030"/>
                </a:solidFill>
              </a:rPr>
              <a:t>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57616" y="246888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Cost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57616" y="2834640"/>
            <a:ext cx="2990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a handful of standard gate ICs, a comparator and an LDR — inexpensive to build and repair.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353872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297680"/>
            <a:ext cx="411480" cy="411480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A030"/>
                </a:solidFill>
              </a:rPr>
              <a:t>✦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80060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&amp; Reliable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166360"/>
            <a:ext cx="2990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combinational logic responds within microseconds and has no software to crash or hang.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15968" y="4023360"/>
            <a:ext cx="353872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0288" y="4297680"/>
            <a:ext cx="411480" cy="411480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27" name="Text 25"/>
          <p:cNvSpPr/>
          <p:nvPr/>
        </p:nvSpPr>
        <p:spPr>
          <a:xfrm>
            <a:off x="4590288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A030"/>
                </a:solidFill>
              </a:rPr>
              <a:t>✦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90288" y="480060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Weather-Responsive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90288" y="5166360"/>
            <a:ext cx="2990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real ambient darkness, so overcast days trigger the lamp earlier automatically.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83296" y="4023360"/>
            <a:ext cx="353872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76200" dist="25400" dir="5400000" algn="bl" rotWithShape="0">
              <a:srgbClr val="1F2937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57616" y="4297680"/>
            <a:ext cx="411480" cy="411480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32" name="Text 30"/>
          <p:cNvSpPr/>
          <p:nvPr/>
        </p:nvSpPr>
        <p:spPr>
          <a:xfrm>
            <a:off x="8357616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A030"/>
                </a:solidFill>
              </a:rPr>
              <a:t>✦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57616" y="480060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Easily Extendable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57616" y="5166360"/>
            <a:ext cx="2990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gate stage can add motion sensors, dimming, or IoT monitoring later.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2E4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Circuit Applies Today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street and highway lighting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Garden, campus and parking-lot lamps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Staircase and corridor lighting in buildings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lanterns in remote areas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Signboard and billboard illumination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80760" y="1737360"/>
            <a:ext cx="0" cy="4206240"/>
          </a:xfrm>
          <a:prstGeom prst="line">
            <a:avLst/>
          </a:prstGeom>
          <a:noFill/>
          <a:ln w="12700">
            <a:solidFill>
              <a:srgbClr val="E2E4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0" y="214884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PIR motion sensor and OR-gate stage for on-demand brightening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sequential logic (counters/timers) for scheduled dimming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with a microcontroller for IoT-based remote monitoring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solar charging for fully off-grid operation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▸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pulse-width control for gradual dawn/dusk brightness fading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828800" cy="1828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104120" y="868680"/>
            <a:ext cx="1188720" cy="1188720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58368" y="1691640"/>
            <a:ext cx="7772400" cy="0"/>
          </a:xfrm>
          <a:prstGeom prst="line">
            <a:avLst/>
          </a:prstGeom>
          <a:noFill/>
          <a:ln w="12700">
            <a:solidFill>
              <a:srgbClr val="3A48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7863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Automatic Street Light Control System demonstrates how a truth table, a minimal Boolean expression, and just two or three logic gates can replace manual switching entirely. Simulated and verified in Logisim, the design is simple, low-cost, energy-efficient, and readily extendable with sensors, timers, or IoT modules for smarter city lighting.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3630168"/>
            <a:ext cx="128016" cy="128016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204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Two-gate core (NOT + AND) meets the full specification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4041648"/>
            <a:ext cx="128016" cy="128016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9319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functionally correct across all input combinations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4453128"/>
            <a:ext cx="128016" cy="128016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NAND-only version confirms the universal-gate property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5029200"/>
            <a:ext cx="7772400" cy="0"/>
          </a:xfrm>
          <a:prstGeom prst="line">
            <a:avLst/>
          </a:prstGeom>
          <a:noFill/>
          <a:ln w="12700">
            <a:solidFill>
              <a:srgbClr val="3A48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166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4864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Morris Mano, Digital Design, Pearson Education.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 Evolution documentation — logisim-evolution.github.io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Instruments, 74-series Logic Gate datasheets (7400, 7404, 7408).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8160" y="60350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1444</Words>
  <Application>Microsoft Office PowerPoint</Application>
  <PresentationFormat>Widescreen</PresentationFormat>
  <Paragraphs>259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Sathwika</cp:lastModifiedBy>
  <cp:revision>2</cp:revision>
  <dcterms:created xsi:type="dcterms:W3CDTF">2026-09-11T04:58:36Z</dcterms:created>
  <dcterms:modified xsi:type="dcterms:W3CDTF">2026-09-11T05:05:01Z</dcterms:modified>
</cp:coreProperties>
</file>